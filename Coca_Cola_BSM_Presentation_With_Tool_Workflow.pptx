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248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https://www.informs.org/Impact/O.R.-Analytics-Success-Stories/Zara-Uses-Operations-Research-to-Reengineeer-Its-Global-Distribution-Process
https://iprjb.org/journals/IJSCM/article/view/3311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969264"/>
            <a:ext cx="12191695" cy="52120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9829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COCA-COLA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 INVENTORY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DISTRIBUTION?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95528" y="427024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2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markets  •  Evidence-based business analytics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5528" y="49743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E1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Dataset-led PGDM case study  |  MySQL · Python · Databricks · Power BI</a:t>
            </a:r>
            <a:endParaRPr 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164592"/>
            <a:ext cx="233172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219456"/>
            <a:ext cx="3246120" cy="320040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r">
              <a:defRPr sz="1500" b="1">
                <a:solidFill>
                  <a:srgbClr val="D71120"/>
                </a:solidFill>
                <a:latin typeface="Aptos"/>
              </a:defRPr>
            </a:pPr>
            <a:r>
              <a:t>Coca-Cola  |  BIG DATA &amp;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59536"/>
            <a:ext cx="10972800" cy="51206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2700" b="1">
                <a:solidFill>
                  <a:srgbClr val="20314F"/>
                </a:solidFill>
                <a:latin typeface="Aptos"/>
              </a:defRPr>
            </a:pPr>
            <a:r>
              <a:t>Our project workflow: from data 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380744"/>
            <a:ext cx="10789920" cy="310896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400" b="0">
                <a:solidFill>
                  <a:srgbClr val="69686D"/>
                </a:solidFill>
                <a:latin typeface="Aptos"/>
              </a:defRPr>
            </a:pPr>
            <a:r>
              <a:t>Sequence of tools, purpose, and current verification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47672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112264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16255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075688"/>
            <a:ext cx="2779776" cy="38404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t>Kaggle →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6032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Data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6207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Coca-Cola dataset supplied; Kaggle origin stated by student, source URL not yet verified.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SOURCE TO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1947672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54296" y="2112264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16255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75688"/>
            <a:ext cx="2779776" cy="38404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t>Excel /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56032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Data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86207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50,000 rows and 31 fields; checks for missing values, duplicates and consistency.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40156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ANALYZED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5904" y="1947672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31352" y="2112264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0496" y="216255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075688"/>
            <a:ext cx="2779776" cy="30777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rPr dirty="0"/>
              <a:t>MySQL + </a:t>
            </a:r>
            <a:r>
              <a:rPr lang="en-IN" dirty="0" err="1"/>
              <a:t>DBeaver</a:t>
            </a:r>
            <a:r>
              <a:rPr lang="en-IN" dirty="0"/>
              <a:t> SQL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558784" y="256032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Store &amp;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286207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Schema and 16 analytical queries prepared for market, demand, inventory and transport.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40156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EXECUTION PENDING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822191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3986783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403707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744" y="3950207"/>
            <a:ext cx="2779776" cy="38404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43484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Analyze &amp; visualize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73659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pandas profiling, aggregations and four dataset-based analytical charts.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27608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ANALYZED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3822191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654296" y="3986783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0" y="403707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3950207"/>
            <a:ext cx="2779776" cy="38404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t>Tableau / 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443484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Dashboard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473659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Interactive charts and KPI monitoring; Tableau usage and Power BI execution not evidenced.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527608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TO BE 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3822191"/>
            <a:ext cx="370332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531352" y="3986783"/>
            <a:ext cx="493776" cy="384048"/>
          </a:xfrm>
          <a:prstGeom prst="roundRect">
            <a:avLst/>
          </a:prstGeom>
          <a:solidFill>
            <a:srgbClr val="D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0496" y="4037076"/>
            <a:ext cx="475488" cy="19202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6" y="3950207"/>
            <a:ext cx="2779776" cy="30777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700" b="1">
                <a:solidFill>
                  <a:srgbClr val="20314F"/>
                </a:solidFill>
                <a:latin typeface="Aptos"/>
              </a:defRPr>
            </a:pPr>
            <a:r>
              <a:rPr lang="en-IN" dirty="0"/>
              <a:t>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8784" y="4434840"/>
            <a:ext cx="3383280" cy="292608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200" b="1">
                <a:solidFill>
                  <a:srgbClr val="D71120"/>
                </a:solidFill>
                <a:latin typeface="Aptos"/>
              </a:defRPr>
            </a:pPr>
            <a:r>
              <a:t>Optimization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58784" y="4736592"/>
            <a:ext cx="3355848" cy="521207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Review overstock, reorder levels, forecast gaps and distribution costs.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5276088"/>
            <a:ext cx="3383280" cy="16459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800" b="1">
                <a:solidFill>
                  <a:srgbClr val="D71120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907024"/>
            <a:ext cx="11064240" cy="329184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Important: Kaggle is a student-reported source; no listing URL has been verified. Tableau and Power BI are not presented as executed outputs.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446520"/>
            <a:ext cx="10991088" cy="16459"/>
          </a:xfrm>
          <a:prstGeom prst="rect">
            <a:avLst/>
          </a:prstGeom>
          <a:solidFill>
            <a:srgbClr val="E0D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" y="6510528"/>
            <a:ext cx="5486400" cy="21031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>
              <a:defRPr sz="1000" b="0">
                <a:solidFill>
                  <a:srgbClr val="69686D"/>
                </a:solidFill>
                <a:latin typeface="Aptos"/>
              </a:defRPr>
            </a:pPr>
            <a:r>
              <a:t>PGDM  |  BIG DATA ANALYTICS &amp; DBMS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6510528"/>
            <a:ext cx="1325880" cy="210312"/>
          </a:xfrm>
          <a:prstGeom prst="rect">
            <a:avLst/>
          </a:prstGeom>
          <a:noFill/>
        </p:spPr>
        <p:txBody>
          <a:bodyPr wrap="square" lIns="22860" tIns="0" rIns="22860">
            <a:spAutoFit/>
          </a:bodyPr>
          <a:lstStyle/>
          <a:p>
            <a:pPr algn="r">
              <a:defRPr sz="1000" b="0">
                <a:solidFill>
                  <a:srgbClr val="69686D"/>
                </a:solidFill>
                <a:latin typeface="Aptos"/>
              </a:defRPr>
            </a:pPr>
            <a:r>
              <a:t>WORKFLOW  |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challenge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product. Right market. Right quantity. Right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7512" y="1965960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1965960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varies by market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7824" y="25328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inventory rule risks mismatching different market needs.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9976" y="1965960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965960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 stock ties up cash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25328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Overstock indicators are widespread in the sample.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965960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965960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adds cost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11896" y="25328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Transportation lead time and expense vary by mode.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3877056"/>
            <a:ext cx="10908792" cy="1325880"/>
          </a:xfrm>
          <a:prstGeom prst="roundRect">
            <a:avLst>
              <a:gd name="adj" fmla="val 8966"/>
            </a:avLst>
          </a:prstGeom>
          <a:solidFill>
            <a:srgbClr val="FFF0EA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 solve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49040" y="404164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replenishment, inventory allocation, and transport selection differ across markets?</a:t>
            </a:r>
            <a:endParaRPr lang="en-US" sz="1900" dirty="0"/>
          </a:p>
        </p:txBody>
      </p:sp>
      <p:sp>
        <p:nvSpPr>
          <p:cNvPr id="27" name="Rectangle 26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we actually analyze?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supplied inventory and distribution CSV; figures are dataset-level, not corporate disclosures.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1947672"/>
            <a:ext cx="2560320" cy="10698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68680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56432" y="1947672"/>
            <a:ext cx="2560320" cy="10698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3639312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7064" y="1947672"/>
            <a:ext cx="2560320" cy="10698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6409944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7696" y="1947672"/>
            <a:ext cx="2560320" cy="10698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9180576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fields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" y="3474720"/>
            <a:ext cx="10762488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68503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441448" y="3648456"/>
            <a:ext cx="8641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quality checks → MySQL-ready design → Python analysis → recommendations → proposed BI validation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86384" y="5404104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Caution: this is an analytical project dataset; its provenance and operational definitions still need confirmation.</a:t>
            </a:r>
            <a:endParaRPr lang="en-US" sz="1300" dirty="0"/>
          </a:p>
        </p:txBody>
      </p:sp>
      <p:sp>
        <p:nvSpPr>
          <p:cNvPr id="28" name="Rectangle 27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Market-level revenue tells us where to focus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revenue by market in the supplied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pic>
        <p:nvPicPr>
          <p:cNvPr id="12" name="Image 0" descr="/mnt/data/coca_project/python/chart_market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87296"/>
            <a:ext cx="7680960" cy="39258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449056" y="2002536"/>
            <a:ext cx="3017520" cy="3410712"/>
          </a:xfrm>
          <a:prstGeom prst="roundRect">
            <a:avLst>
              <a:gd name="adj" fmla="val 3939"/>
            </a:avLst>
          </a:prstGeom>
          <a:solidFill>
            <a:srgbClr val="FFF0EA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77656" y="2295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77656" y="29077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America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677656" y="338328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recorded revenue: $1.49M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77656" y="4279392"/>
            <a:ext cx="2505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should reflect demand and service risk—not revenue alone.</a:t>
            </a:r>
            <a:endParaRPr lang="en-US" sz="1300" dirty="0"/>
          </a:p>
        </p:txBody>
      </p:sp>
      <p:sp>
        <p:nvSpPr>
          <p:cNvPr id="18" name="Rectangle 17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ssets_badruka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 changes replenishment needs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across monthly records; spikes merit investigation before changing policy.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pic>
        <p:nvPicPr>
          <p:cNvPr id="12" name="Image 0" descr="/mnt/data/coca_project/python/chart_monthly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09292"/>
            <a:ext cx="7772400" cy="3454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40496" y="1956816"/>
            <a:ext cx="2907792" cy="3520440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2258568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implication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778240" y="2834640"/>
            <a:ext cx="2359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rolling demand forecasts by market and product, with seasonal overrides.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778240" y="4617720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seasonal labels and date granularity first.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ssets_badruka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clearest warning sign: potential excess stock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Overstock is a source-data flag, not a validated cash-savings estimate.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pic>
        <p:nvPicPr>
          <p:cNvPr id="12" name="Image 0" descr="/mnt/data/coca_project/python/chart_over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92096"/>
            <a:ext cx="7626096" cy="33893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94192" y="1975104"/>
            <a:ext cx="3099816" cy="3401568"/>
          </a:xfrm>
          <a:prstGeom prst="roundRect">
            <a:avLst>
              <a:gd name="adj" fmla="val 3835"/>
            </a:avLst>
          </a:prstGeom>
          <a:solidFill>
            <a:srgbClr val="FFF0EA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2304288"/>
            <a:ext cx="2468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85.2%</a:t>
            </a:r>
            <a:endParaRPr lang="en-US" sz="3500" dirty="0"/>
          </a:p>
        </p:txBody>
      </p:sp>
      <p:sp>
        <p:nvSpPr>
          <p:cNvPr id="15" name="Text 12"/>
          <p:cNvSpPr/>
          <p:nvPr/>
        </p:nvSpPr>
        <p:spPr>
          <a:xfrm>
            <a:off x="8668512" y="30998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42,598 records flagged overstock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68512" y="4133088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diagnose product × market combinations, then test lower order quantities.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ssets_badruka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choices require more than cost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recorded lead time by transport mode; observational differences are not causal.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pic>
        <p:nvPicPr>
          <p:cNvPr id="12" name="Image 0" descr="/mnt/data/coca_project/python/chart_transport_l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20544"/>
            <a:ext cx="7498080" cy="3332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39328" y="1920240"/>
            <a:ext cx="3163824" cy="3575304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22792" y="226771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spend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22792" y="283464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$478,330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622792" y="340156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across all modes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22792" y="40325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unit cost, distance, urgency and route before mode switching.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ssets_badruka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solution: smarter inventory allocation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testable policy—not a claimed implemented optimization.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" y="1975104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975104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157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Segment demand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2542032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market × product demand, variability and cost-to-serve.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0832" y="1975104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975104"/>
            <a:ext cx="73152" cy="1216152"/>
          </a:xfrm>
          <a:prstGeom prst="rect">
            <a:avLst/>
          </a:prstGeom>
          <a:solidFill>
            <a:srgbClr val="EB672A"/>
          </a:solidFill>
          <a:ln w="12700">
            <a:solidFill>
              <a:srgbClr val="EB6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2157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Set stock rules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81144" y="2542032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safety stock and reorder points using demand and lead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74152" y="1975104"/>
            <a:ext cx="34747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74152" y="1975104"/>
            <a:ext cx="73152" cy="1216152"/>
          </a:xfrm>
          <a:prstGeom prst="rect">
            <a:avLst/>
          </a:prstGeom>
          <a:solidFill>
            <a:srgbClr val="177C62"/>
          </a:solidFill>
          <a:ln w="12700">
            <a:solidFill>
              <a:srgbClr val="177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57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Review replenishment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4464" y="2542032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overstock and below-reorder cases for planner action.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" y="3730752"/>
            <a:ext cx="10881360" cy="1527048"/>
          </a:xfrm>
          <a:prstGeom prst="roundRect">
            <a:avLst>
              <a:gd name="adj" fmla="val 7784"/>
            </a:avLst>
          </a:prstGeom>
          <a:solidFill>
            <a:srgbClr val="FFF0EA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policy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794760" y="3913632"/>
            <a:ext cx="7278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Reorder point = expected demand during lead time + safety stock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95528" y="56784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deployment: check units, time intervals, forecast bias and missing stock-movement definitions.</a:t>
            </a:r>
            <a:endParaRPr lang="en-US" sz="1200" dirty="0"/>
          </a:p>
        </p:txBody>
      </p:sp>
      <p:sp>
        <p:nvSpPr>
          <p:cNvPr id="28" name="Rectangle 27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examples: what other companies teach us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case studies; these are not results from the Coca-Cola dataset.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" y="2011680"/>
            <a:ext cx="5294376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011680"/>
            <a:ext cx="73152" cy="1216152"/>
          </a:xfrm>
          <a:prstGeom prst="rect">
            <a:avLst/>
          </a:prstGeom>
          <a:solidFill>
            <a:srgbClr val="163963"/>
          </a:solidFill>
          <a:ln w="12700">
            <a:solidFill>
              <a:srgbClr val="1639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19456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Walmart — shared demand visibility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5256" y="2578608"/>
            <a:ext cx="4882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Link illustrates the value of coordinated replenishment and supplier data sharing.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7064" y="2011680"/>
            <a:ext cx="5294376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2011680"/>
            <a:ext cx="73152" cy="1216152"/>
          </a:xfrm>
          <a:prstGeom prst="rect">
            <a:avLst/>
          </a:prstGeom>
          <a:solidFill>
            <a:srgbClr val="EB672A"/>
          </a:solidFill>
          <a:ln w="12700">
            <a:solidFill>
              <a:srgbClr val="EB6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19456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Zara — analytics-led allocation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37376" y="2578608"/>
            <a:ext cx="4882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research has been used to improve store-level distribution decisions.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" y="3913632"/>
            <a:ext cx="10826496" cy="1261872"/>
          </a:xfrm>
          <a:prstGeom prst="roundRect">
            <a:avLst>
              <a:gd name="adj" fmla="val 9420"/>
            </a:avLst>
          </a:prstGeom>
          <a:solidFill>
            <a:srgbClr val="FFF0EA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42245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Transferable lesson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55264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reliable demand signals, allocation rules, and frequent performance review.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4672" y="5696712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INFORMS Zara case study; Walmart Retail Link case study (full URLs in speaker notes).</a:t>
            </a:r>
            <a:endParaRPr lang="en-US" sz="1000" dirty="0"/>
          </a:p>
        </p:txBody>
      </p:sp>
      <p:sp>
        <p:nvSpPr>
          <p:cNvPr id="24" name="Rectangle 23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success look like?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the recommendations; measure results before asserting impact.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1947672"/>
            <a:ext cx="3483864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947672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13055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overstock rate and holding cost with no service deterioration.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1947672"/>
            <a:ext cx="3483864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1947672"/>
            <a:ext cx="73152" cy="1216152"/>
          </a:xfrm>
          <a:prstGeom prst="rect">
            <a:avLst/>
          </a:prstGeom>
          <a:solidFill>
            <a:srgbClr val="EB672A"/>
          </a:solidFill>
          <a:ln w="12700">
            <a:solidFill>
              <a:srgbClr val="EB6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3055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forecast WAPE by market, product and season.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74152" y="1947672"/>
            <a:ext cx="3483864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74152" y="1947672"/>
            <a:ext cx="73152" cy="1216152"/>
          </a:xfrm>
          <a:prstGeom prst="rect">
            <a:avLst/>
          </a:prstGeom>
          <a:solidFill>
            <a:srgbClr val="177C62"/>
          </a:solidFill>
          <a:ln w="12700">
            <a:solidFill>
              <a:srgbClr val="177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3055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4464" y="2514600"/>
            <a:ext cx="3072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adjusted cost per delivered unit and lead-time variation.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" y="3840480"/>
            <a:ext cx="10835640" cy="142646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2394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design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2926080" y="4005072"/>
            <a:ext cx="8119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high-overstock product–market pairs → compare baseline vs pilot → assess service, cost and waste.</a:t>
            </a:r>
            <a:endParaRPr lang="en-US" sz="1800" dirty="0"/>
          </a:p>
        </p:txBody>
      </p:sp>
      <p:sp>
        <p:nvSpPr>
          <p:cNvPr id="27" name="Rectangle 26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cannot yet prove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integrity: limitations matter as much as dashboards.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" y="1956816"/>
            <a:ext cx="53035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956816"/>
            <a:ext cx="73152" cy="1216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139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recorded stock-out variation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2523744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Stockout_Flag is zero and Fill_Rate_Percent is 100% throughout.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956816"/>
            <a:ext cx="53035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956816"/>
            <a:ext cx="73152" cy="1216152"/>
          </a:xfrm>
          <a:prstGeom prst="rect">
            <a:avLst/>
          </a:prstGeom>
          <a:solidFill>
            <a:srgbClr val="EB672A"/>
          </a:solidFill>
          <a:ln w="12700">
            <a:solidFill>
              <a:srgbClr val="EB6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139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reconciliation gaps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9944" y="2523744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3,841 records differ under an assumed stock-flow equation.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" y="3429000"/>
            <a:ext cx="53035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429000"/>
            <a:ext cx="73152" cy="1216152"/>
          </a:xfrm>
          <a:prstGeom prst="rect">
            <a:avLst/>
          </a:prstGeom>
          <a:solidFill>
            <a:srgbClr val="163963"/>
          </a:solidFill>
          <a:ln w="12700">
            <a:solidFill>
              <a:srgbClr val="1639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and definitions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6968" y="3995928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source, sampling and metric semantics need verification.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9632" y="3429000"/>
            <a:ext cx="5303520" cy="1216152"/>
          </a:xfrm>
          <a:prstGeom prst="roundRect">
            <a:avLst>
              <a:gd name="adj" fmla="val 9774"/>
            </a:avLst>
          </a:prstGeom>
          <a:solidFill>
            <a:srgbClr val="FFFFFF"/>
          </a:solidFill>
          <a:ln w="12700">
            <a:solidFill>
              <a:srgbClr val="F0E0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3429000"/>
            <a:ext cx="73152" cy="1216152"/>
          </a:xfrm>
          <a:prstGeom prst="rect">
            <a:avLst/>
          </a:prstGeom>
          <a:solidFill>
            <a:srgbClr val="177C62"/>
          </a:solidFill>
          <a:ln w="12700">
            <a:solidFill>
              <a:srgbClr val="177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evidence pending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9944" y="3995928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DBeaver, Databricks or Power BI execution is claimed here.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5458968"/>
            <a:ext cx="1076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optimize through a verified, measured pilot—not unsupported promises of cost savings.</a:t>
            </a:r>
            <a:endParaRPr lang="en-US" sz="1900" dirty="0"/>
          </a:p>
        </p:txBody>
      </p:sp>
      <p:sp>
        <p:nvSpPr>
          <p:cNvPr id="29" name="Rectangle 28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" y="228600"/>
            <a:ext cx="320040" cy="338328"/>
          </a:xfrm>
          <a:prstGeom prst="hexagon">
            <a:avLst/>
          </a:prstGeom>
          <a:solidFill>
            <a:srgbClr val="FFF9F6"/>
          </a:solidFill>
          <a:ln w="27940">
            <a:solidFill>
              <a:srgbClr val="EB6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521208" y="292608"/>
            <a:ext cx="192024" cy="201168"/>
          </a:xfrm>
          <a:prstGeom prst="hexagon">
            <a:avLst/>
          </a:prstGeom>
          <a:solidFill>
            <a:srgbClr val="FFF9F6"/>
          </a:solidFill>
          <a:ln w="17780">
            <a:solidFill>
              <a:srgbClr val="EB6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63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BADRUKA  |  SCHOOL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46920" y="182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i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85039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4996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intelligence becomes business value when measured decisions improve service and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12700">
            <a:solidFill>
              <a:srgbClr val="EBD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6556248"/>
            <a:ext cx="5577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PGDM  |  BIG DATA ANALYTICS &amp; DBMS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556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048256"/>
            <a:ext cx="10195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Coca-Cola Inventory &amp; Distribution Across Markets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28800" y="3703320"/>
            <a:ext cx="8540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47457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Badruka School of Management  |  PGDM Big Data Analytics &amp; DBMS</a:t>
            </a:r>
            <a:endParaRPr lang="en-US" sz="1500" dirty="0"/>
          </a:p>
        </p:txBody>
      </p:sp>
      <p:sp>
        <p:nvSpPr>
          <p:cNvPr id="15" name="Rectangle 14"/>
          <p:cNvSpPr/>
          <p:nvPr/>
        </p:nvSpPr>
        <p:spPr>
          <a:xfrm>
            <a:off x="164592" y="118872"/>
            <a:ext cx="4434840" cy="502920"/>
          </a:xfrm>
          <a:prstGeom prst="rect">
            <a:avLst/>
          </a:prstGeom>
          <a:solidFill>
            <a:srgbClr val="F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ssets_badruka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2329508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1102</Words>
  <Application>Microsoft Office PowerPoint</Application>
  <PresentationFormat>Widescreen</PresentationFormat>
  <Paragraphs>193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Coca-Cola Inventory and Distribution Across Markets</dc:title>
  <dc:subject>Evidence-based inventory and distribution optimization</dc:subject>
  <dc:creator>PGDM Big Data Analytics Project</dc:creator>
  <cp:lastModifiedBy>Shiva Mani</cp:lastModifiedBy>
  <cp:revision>2</cp:revision>
  <dcterms:created xsi:type="dcterms:W3CDTF">2026-10-29T05:49:16Z</dcterms:created>
  <dcterms:modified xsi:type="dcterms:W3CDTF">2026-10-29T09:27:25Z</dcterms:modified>
</cp:coreProperties>
</file>